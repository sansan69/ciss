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1E3A"/>
          </a:solidFill>
          <a:ln w="12700">
            <a:solidFill>
              <a:srgbClr val="01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13A66">
              <a:alpha val="60000"/>
            </a:srgbClr>
          </a:solidFill>
          <a:ln w="12700">
            <a:solidFill>
              <a:srgbClr val="013A66">
                <a:alpha val="6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00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D9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 WORKFORCE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4360" y="210312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Security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Platform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9436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Management · HRM · Payroll · Training · Guard Operations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6492240" y="548640"/>
            <a:ext cx="1005840" cy="100584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589520" y="1371600"/>
            <a:ext cx="822960" cy="82296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6675120" y="1920240"/>
            <a:ext cx="731520" cy="731520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7498080" y="2651760"/>
            <a:ext cx="731520" cy="731520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6400800" y="32004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 WORKFORCE — AT A GLANCE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Dimension of Security Workforce Management.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65760" y="141732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417320"/>
            <a:ext cx="1920240" cy="6400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87552" y="1600200"/>
            <a:ext cx="676656" cy="676656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682496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2395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4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7200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32644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HR · Guard · FO · Client · SuperAdmin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468880" y="141732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468880" y="1417320"/>
            <a:ext cx="1920240" cy="6400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090672" y="1600200"/>
            <a:ext cx="676656" cy="676656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1682496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60320" y="2395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4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2560320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2560320" y="32644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· Geofence · Photo · Real-time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572000" y="141732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0" y="1417320"/>
            <a:ext cx="1920240" cy="6400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193792" y="1600200"/>
            <a:ext cx="676656" cy="676656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8" y="1682496"/>
            <a:ext cx="512064" cy="51206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663440" y="2395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4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2200" dirty="0"/>
          </a:p>
        </p:txBody>
      </p:sp>
      <p:sp>
        <p:nvSpPr>
          <p:cNvPr id="25" name="Text 19"/>
          <p:cNvSpPr/>
          <p:nvPr/>
        </p:nvSpPr>
        <p:spPr>
          <a:xfrm>
            <a:off x="4663440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Engine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663440" y="32644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config · Slabs · Payslips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6675120" y="1417320"/>
            <a:ext cx="19202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675120" y="1417320"/>
            <a:ext cx="1920240" cy="6400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296912" y="1600200"/>
            <a:ext cx="676656" cy="676656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1682496"/>
            <a:ext cx="512064" cy="51206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766560" y="2395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4C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2200" dirty="0"/>
          </a:p>
        </p:txBody>
      </p:sp>
      <p:sp>
        <p:nvSpPr>
          <p:cNvPr id="32" name="Text 25"/>
          <p:cNvSpPr/>
          <p:nvPr/>
        </p:nvSpPr>
        <p:spPr>
          <a:xfrm>
            <a:off x="6766560" y="29443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6766560" y="32644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· Assignments · Evals · Leaderboard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Security Industry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 Workforce — A Fully Integrated Platform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" y="1298448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298448"/>
            <a:ext cx="2651760" cy="50292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62456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2104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21208" y="1920240"/>
            <a:ext cx="109728" cy="109728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04088" y="18836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KPIs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21208" y="2377440"/>
            <a:ext cx="109728" cy="109728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04088" y="23408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Management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21208" y="2834640"/>
            <a:ext cx="109728" cy="109728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04088" y="2798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Logs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21208" y="3291840"/>
            <a:ext cx="109728" cy="109728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4088" y="32552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Engine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21208" y="3749040"/>
            <a:ext cx="109728" cy="109728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04088" y="37124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System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21208" y="4206240"/>
            <a:ext cx="109728" cy="109728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04088" y="41696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Operations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200400" y="1298448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00400" y="1298448"/>
            <a:ext cx="2651760" cy="50292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62456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712464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Portal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3401568" y="1920240"/>
            <a:ext cx="109728" cy="109728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584448" y="18836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PWA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401568" y="2377440"/>
            <a:ext cx="109728" cy="109728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584448" y="23408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Check-in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3401568" y="2834640"/>
            <a:ext cx="109728" cy="109728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584448" y="2798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3401568" y="3291840"/>
            <a:ext cx="109728" cy="109728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584448" y="32552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Viewer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3401568" y="3749040"/>
            <a:ext cx="109728" cy="109728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584448" y="37124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Access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3401568" y="4206240"/>
            <a:ext cx="109728" cy="109728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584448" y="41696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080760" y="1298448"/>
            <a:ext cx="26517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6080760" y="1298448"/>
            <a:ext cx="2651760" cy="5029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62456"/>
            <a:ext cx="347472" cy="34747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592824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1300" dirty="0"/>
          </a:p>
        </p:txBody>
      </p:sp>
      <p:sp>
        <p:nvSpPr>
          <p:cNvPr id="42" name="Shape 36"/>
          <p:cNvSpPr/>
          <p:nvPr/>
        </p:nvSpPr>
        <p:spPr>
          <a:xfrm>
            <a:off x="6281928" y="1920240"/>
            <a:ext cx="109728" cy="10972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64808" y="18836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Overview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6281928" y="2377440"/>
            <a:ext cx="109728" cy="10972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464808" y="23408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Assignments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6281928" y="2834640"/>
            <a:ext cx="109728" cy="10972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464808" y="27980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View</a:t>
            </a:r>
            <a:endParaRPr lang="en-US" sz="1050" dirty="0"/>
          </a:p>
        </p:txBody>
      </p:sp>
      <p:sp>
        <p:nvSpPr>
          <p:cNvPr id="48" name="Shape 42"/>
          <p:cNvSpPr/>
          <p:nvPr/>
        </p:nvSpPr>
        <p:spPr>
          <a:xfrm>
            <a:off x="6281928" y="3291840"/>
            <a:ext cx="109728" cy="10972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464808" y="32552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</a:t>
            </a:r>
            <a:endParaRPr lang="en-US" sz="1050" dirty="0"/>
          </a:p>
        </p:txBody>
      </p:sp>
      <p:sp>
        <p:nvSpPr>
          <p:cNvPr id="50" name="Shape 44"/>
          <p:cNvSpPr/>
          <p:nvPr/>
        </p:nvSpPr>
        <p:spPr>
          <a:xfrm>
            <a:off x="6281928" y="3749040"/>
            <a:ext cx="109728" cy="10972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464808" y="37124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Status</a:t>
            </a:r>
            <a:endParaRPr lang="en-US" sz="1050" dirty="0"/>
          </a:p>
        </p:txBody>
      </p:sp>
      <p:sp>
        <p:nvSpPr>
          <p:cNvPr id="52" name="Shape 46"/>
          <p:cNvSpPr/>
          <p:nvPr/>
        </p:nvSpPr>
        <p:spPr>
          <a:xfrm>
            <a:off x="6281928" y="4206240"/>
            <a:ext cx="109728" cy="109728"/>
          </a:xfrm>
          <a:prstGeom prst="ellipse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6464808" y="41696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050" dirty="0"/>
          </a:p>
        </p:txBody>
      </p:sp>
      <p:sp>
        <p:nvSpPr>
          <p:cNvPr id="54" name="Shape 48"/>
          <p:cNvSpPr/>
          <p:nvPr/>
        </p:nvSpPr>
        <p:spPr>
          <a:xfrm>
            <a:off x="3017520" y="2834640"/>
            <a:ext cx="365760" cy="45720"/>
          </a:xfrm>
          <a:prstGeom prst="rect">
            <a:avLst/>
          </a:prstGeom>
          <a:solidFill>
            <a:srgbClr val="D0DEEE"/>
          </a:solidFill>
          <a:ln w="12700">
            <a:solidFill>
              <a:srgbClr val="D0DEEE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5897880" y="2834640"/>
            <a:ext cx="365760" cy="45720"/>
          </a:xfrm>
          <a:prstGeom prst="rect">
            <a:avLst/>
          </a:prstGeom>
          <a:solidFill>
            <a:srgbClr val="D0DEEE"/>
          </a:solidFill>
          <a:ln w="12700">
            <a:solidFill>
              <a:srgbClr val="D0DEEE"/>
            </a:solidFill>
            <a:prstDash val="solid"/>
          </a:ln>
        </p:spPr>
      </p:sp>
      <p:sp>
        <p:nvSpPr>
          <p:cNvPr id="56" name="Shape 5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· Firebase · Real-time · Offline-capable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 MANAGEMENT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86868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Employee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Management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17373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enrollment to exit — every employee touchpoint in one place.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2286000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2286000"/>
            <a:ext cx="54864" cy="56692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77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78408" y="23317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Enrollment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978408" y="25694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card generation, photo capture, document storage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65760" y="2944368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" y="2944368"/>
            <a:ext cx="54864" cy="56692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03580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78408" y="29900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Directory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978408" y="32278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profiles with role, site, district info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65760" y="3602736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65760" y="3602736"/>
            <a:ext cx="54864" cy="56692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94176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78408" y="36484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78408" y="38862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Casual, sick, earned leave with balance tracking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65760" y="4261104"/>
            <a:ext cx="4114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65760" y="4261104"/>
            <a:ext cx="54864" cy="56692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352544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78408" y="430682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Permissions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978408" y="454456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Field Officer · HR · Accounts · Client · Guard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892040" y="868680"/>
            <a:ext cx="3931920" cy="370332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892040" y="868680"/>
            <a:ext cx="3931920" cy="54864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120640" y="1005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Profile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029200" y="1444752"/>
            <a:ext cx="3611880" cy="301752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50000"/>
              </a:srgbClr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120640" y="14813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ID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629400" y="14813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CISS-2024-001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5029200" y="1801368"/>
            <a:ext cx="3611880" cy="301752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50000"/>
              </a:srgbClr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120640" y="18379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6629400" y="183794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Rajesh Kumar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5029200" y="2157984"/>
            <a:ext cx="3611880" cy="301752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50000"/>
              </a:srgbClr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120640" y="2194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6629400" y="21945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5029200" y="2514600"/>
            <a:ext cx="3611880" cy="301752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50000"/>
              </a:srgbClr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5120640" y="255117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6629400" y="255117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TechPark A, Kochi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5029200" y="2871216"/>
            <a:ext cx="3611880" cy="301752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50000"/>
              </a:srgbClr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5120640" y="29077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6629400" y="290779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Ernakulam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5029200" y="3227832"/>
            <a:ext cx="3611880" cy="301752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50000"/>
              </a:srgbClr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5120640" y="32644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6629400" y="326440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✓</a:t>
            </a:r>
            <a:endParaRPr lang="en-US" sz="900" dirty="0"/>
          </a:p>
        </p:txBody>
      </p:sp>
      <p:sp>
        <p:nvSpPr>
          <p:cNvPr id="48" name="Shape 41"/>
          <p:cNvSpPr/>
          <p:nvPr/>
        </p:nvSpPr>
        <p:spPr>
          <a:xfrm>
            <a:off x="5029200" y="3584448"/>
            <a:ext cx="3611880" cy="301752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50000"/>
              </a:srgbClr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5120640" y="362102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Balance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6629400" y="362102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CL: 8  SL: 6  EL: 12</a:t>
            </a:r>
            <a:endParaRPr lang="en-US" sz="900" dirty="0"/>
          </a:p>
        </p:txBody>
      </p:sp>
      <p:sp>
        <p:nvSpPr>
          <p:cNvPr id="51" name="Shape 44"/>
          <p:cNvSpPr/>
          <p:nvPr/>
        </p:nvSpPr>
        <p:spPr>
          <a:xfrm>
            <a:off x="5029200" y="3941064"/>
            <a:ext cx="3611880" cy="301752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50000"/>
              </a:srgbClr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5120640" y="39776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53" name="Text 46"/>
          <p:cNvSpPr/>
          <p:nvPr/>
        </p:nvSpPr>
        <p:spPr>
          <a:xfrm>
            <a:off x="6629400" y="39776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 modules complete</a:t>
            </a:r>
            <a:endParaRPr lang="en-US" sz="900" dirty="0"/>
          </a:p>
        </p:txBody>
      </p:sp>
      <p:sp>
        <p:nvSpPr>
          <p:cNvPr id="54" name="Shape 4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bulk import, data export, and QR card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TIME MANAGEMENT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GPS-Verified, Tamper-Proof Attendance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" y="137160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371600"/>
            <a:ext cx="54864" cy="150876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84632" y="1554480"/>
            <a:ext cx="594360" cy="59436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9344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153619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Geofencing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188720" y="184708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can only check in within the designated site boundary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00400" y="137160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00400" y="1371600"/>
            <a:ext cx="54864" cy="150876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364992" y="1554480"/>
            <a:ext cx="594360" cy="59436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609344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069080" y="153619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Capture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069080" y="184708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selfie captured at every check-in for identity verification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080760" y="137160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080760" y="1371600"/>
            <a:ext cx="54864" cy="150876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45352" y="1554480"/>
            <a:ext cx="594360" cy="59436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09344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153619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Location Detection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949440" y="184708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and rejects spoofed GPS coordinates automatically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0040" y="306324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0040" y="3063240"/>
            <a:ext cx="54864" cy="150876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84632" y="3246120"/>
            <a:ext cx="594360" cy="59436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00984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88720" y="322783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Metadata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1188720" y="353872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label, site name, check-in/out time all recorded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3200400" y="306324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200400" y="3063240"/>
            <a:ext cx="54864" cy="150876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3364992" y="3246120"/>
            <a:ext cx="594360" cy="59436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3300984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069080" y="322783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Admin Logs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4069080" y="353872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see live attendance with device info and GPS accuracy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6080760" y="306324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080760" y="3063240"/>
            <a:ext cx="54864" cy="150876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245352" y="3246120"/>
            <a:ext cx="594360" cy="59436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3300984"/>
            <a:ext cx="457200" cy="45720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949440" y="3227832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Attendance Page</a:t>
            </a:r>
            <a:endParaRPr lang="en-US" sz="1050" dirty="0"/>
          </a:p>
        </p:txBody>
      </p:sp>
      <p:sp>
        <p:nvSpPr>
          <p:cNvPr id="41" name="Text 32"/>
          <p:cNvSpPr/>
          <p:nvPr/>
        </p:nvSpPr>
        <p:spPr>
          <a:xfrm>
            <a:off x="6949440" y="353872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can view attendance without logging in via secure link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check-in stored with full audit trail — date, time, GPS, device, photo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11E3A"/>
          </a:solidFill>
          <a:ln w="12700">
            <a:solidFill>
              <a:srgbClr val="01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D9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MOBILE PORTAL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2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Guards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299923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as installable PWA on any smartphone.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store required.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3657600"/>
            <a:ext cx="365760" cy="36576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72160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161288" y="3657600"/>
            <a:ext cx="365760" cy="36576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96" y="3721608"/>
            <a:ext cx="237744" cy="23774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819656" y="3657600"/>
            <a:ext cx="365760" cy="36576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3664" y="3721608"/>
            <a:ext cx="237744" cy="2377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2478024" y="3657600"/>
            <a:ext cx="365760" cy="36576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2032" y="3721608"/>
            <a:ext cx="237744" cy="237744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3136392" y="3657600"/>
            <a:ext cx="365760" cy="36576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3721608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47472" y="40782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700" dirty="0"/>
          </a:p>
        </p:txBody>
      </p:sp>
      <p:sp>
        <p:nvSpPr>
          <p:cNvPr id="20" name="Text 12"/>
          <p:cNvSpPr/>
          <p:nvPr/>
        </p:nvSpPr>
        <p:spPr>
          <a:xfrm>
            <a:off x="1005840" y="40782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</a:t>
            </a:r>
            <a:endParaRPr lang="en-US" sz="700" dirty="0"/>
          </a:p>
        </p:txBody>
      </p:sp>
      <p:sp>
        <p:nvSpPr>
          <p:cNvPr id="21" name="Text 13"/>
          <p:cNvSpPr/>
          <p:nvPr/>
        </p:nvSpPr>
        <p:spPr>
          <a:xfrm>
            <a:off x="1664208" y="40782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Payslips</a:t>
            </a:r>
            <a:endParaRPr lang="en-US" sz="700" dirty="0"/>
          </a:p>
        </p:txBody>
      </p:sp>
      <p:sp>
        <p:nvSpPr>
          <p:cNvPr id="22" name="Text 14"/>
          <p:cNvSpPr/>
          <p:nvPr/>
        </p:nvSpPr>
        <p:spPr>
          <a:xfrm>
            <a:off x="2322576" y="40782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700" dirty="0"/>
          </a:p>
        </p:txBody>
      </p:sp>
      <p:sp>
        <p:nvSpPr>
          <p:cNvPr id="23" name="Text 15"/>
          <p:cNvSpPr/>
          <p:nvPr/>
        </p:nvSpPr>
        <p:spPr>
          <a:xfrm>
            <a:off x="2980944" y="40782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</a:t>
            </a:r>
            <a:endParaRPr lang="en-US" sz="700" dirty="0"/>
          </a:p>
        </p:txBody>
      </p:sp>
      <p:sp>
        <p:nvSpPr>
          <p:cNvPr id="24" name="Text 16"/>
          <p:cNvSpPr/>
          <p:nvPr/>
        </p:nvSpPr>
        <p:spPr>
          <a:xfrm>
            <a:off x="4663440" y="6858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App Features</a:t>
            </a:r>
            <a:endParaRPr lang="en-US" sz="1700" dirty="0"/>
          </a:p>
        </p:txBody>
      </p:sp>
      <p:sp>
        <p:nvSpPr>
          <p:cNvPr id="25" name="Shape 17"/>
          <p:cNvSpPr/>
          <p:nvPr/>
        </p:nvSpPr>
        <p:spPr>
          <a:xfrm>
            <a:off x="4617720" y="1188720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4709160" y="1271016"/>
            <a:ext cx="347472" cy="347472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1316736"/>
            <a:ext cx="246888" cy="24688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166360" y="123444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PWA</a:t>
            </a:r>
            <a:endParaRPr lang="en-US" sz="1050" dirty="0"/>
          </a:p>
        </p:txBody>
      </p:sp>
      <p:sp>
        <p:nvSpPr>
          <p:cNvPr id="29" name="Text 20"/>
          <p:cNvSpPr/>
          <p:nvPr/>
        </p:nvSpPr>
        <p:spPr>
          <a:xfrm>
            <a:off x="5166360" y="144475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offline, installs to home screen, no app store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4617720" y="1801368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709160" y="1883664"/>
            <a:ext cx="347472" cy="347472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1929384"/>
            <a:ext cx="246888" cy="246888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166360" y="18470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Check-in</a:t>
            </a:r>
            <a:endParaRPr lang="en-US" sz="1050" dirty="0"/>
          </a:p>
        </p:txBody>
      </p:sp>
      <p:sp>
        <p:nvSpPr>
          <p:cNvPr id="34" name="Text 24"/>
          <p:cNvSpPr/>
          <p:nvPr/>
        </p:nvSpPr>
        <p:spPr>
          <a:xfrm>
            <a:off x="5166360" y="20574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 check-in/out with photo at duty site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4617720" y="2414016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4709160" y="2496312"/>
            <a:ext cx="347472" cy="347472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2542032"/>
            <a:ext cx="246888" cy="246888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166360" y="245973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Application</a:t>
            </a:r>
            <a:endParaRPr lang="en-US" sz="1050" dirty="0"/>
          </a:p>
        </p:txBody>
      </p:sp>
      <p:sp>
        <p:nvSpPr>
          <p:cNvPr id="39" name="Text 28"/>
          <p:cNvSpPr/>
          <p:nvPr/>
        </p:nvSpPr>
        <p:spPr>
          <a:xfrm>
            <a:off x="5166360" y="267004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leave, view balance and approval status</a:t>
            </a:r>
            <a:endParaRPr lang="en-US" sz="900" dirty="0"/>
          </a:p>
        </p:txBody>
      </p:sp>
      <p:sp>
        <p:nvSpPr>
          <p:cNvPr id="40" name="Shape 29"/>
          <p:cNvSpPr/>
          <p:nvPr/>
        </p:nvSpPr>
        <p:spPr>
          <a:xfrm>
            <a:off x="4617720" y="3026664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4709160" y="3108960"/>
            <a:ext cx="347472" cy="347472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3154680"/>
            <a:ext cx="246888" cy="24688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166360" y="307238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Payslip Access</a:t>
            </a:r>
            <a:endParaRPr lang="en-US" sz="1050" dirty="0"/>
          </a:p>
        </p:txBody>
      </p:sp>
      <p:sp>
        <p:nvSpPr>
          <p:cNvPr id="44" name="Text 32"/>
          <p:cNvSpPr/>
          <p:nvPr/>
        </p:nvSpPr>
        <p:spPr>
          <a:xfrm>
            <a:off x="5166360" y="328269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monthly payslips with full wage breakdown</a:t>
            </a:r>
            <a:endParaRPr lang="en-US" sz="900" dirty="0"/>
          </a:p>
        </p:txBody>
      </p:sp>
      <p:sp>
        <p:nvSpPr>
          <p:cNvPr id="45" name="Shape 33"/>
          <p:cNvSpPr/>
          <p:nvPr/>
        </p:nvSpPr>
        <p:spPr>
          <a:xfrm>
            <a:off x="4617720" y="3639312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4709160" y="3721608"/>
            <a:ext cx="347472" cy="347472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880" y="3767328"/>
            <a:ext cx="246888" cy="246888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166360" y="368503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Modules</a:t>
            </a:r>
            <a:endParaRPr lang="en-US" sz="1050" dirty="0"/>
          </a:p>
        </p:txBody>
      </p:sp>
      <p:sp>
        <p:nvSpPr>
          <p:cNvPr id="49" name="Text 36"/>
          <p:cNvSpPr/>
          <p:nvPr/>
        </p:nvSpPr>
        <p:spPr>
          <a:xfrm>
            <a:off x="5166360" y="389534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assigned training content anytime</a:t>
            </a:r>
            <a:endParaRPr lang="en-US" sz="900" dirty="0"/>
          </a:p>
        </p:txBody>
      </p:sp>
      <p:sp>
        <p:nvSpPr>
          <p:cNvPr id="50" name="Shape 37"/>
          <p:cNvSpPr/>
          <p:nvPr/>
        </p:nvSpPr>
        <p:spPr>
          <a:xfrm>
            <a:off x="4617720" y="4251960"/>
            <a:ext cx="4206240" cy="521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1" name="Shape 38"/>
          <p:cNvSpPr/>
          <p:nvPr/>
        </p:nvSpPr>
        <p:spPr>
          <a:xfrm>
            <a:off x="4709160" y="4334256"/>
            <a:ext cx="347472" cy="347472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54880" y="4379976"/>
            <a:ext cx="246888" cy="246888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5166360" y="429768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 &amp; Score</a:t>
            </a:r>
            <a:endParaRPr lang="en-US" sz="1050" dirty="0"/>
          </a:p>
        </p:txBody>
      </p:sp>
      <p:sp>
        <p:nvSpPr>
          <p:cNvPr id="54" name="Text 40"/>
          <p:cNvSpPr/>
          <p:nvPr/>
        </p:nvSpPr>
        <p:spPr>
          <a:xfrm>
            <a:off x="5166360" y="450799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performance scores and leaderboard ranking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&amp; GUARD DEPLOYMENT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8046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Site Staffing &amp; Duty Management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365760" y="132588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1417320"/>
            <a:ext cx="731520" cy="73152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2860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Site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75488" y="32461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client, location, geocoordinates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313432" y="2468880"/>
            <a:ext cx="128016" cy="54864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468880" y="132588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063240" y="1417320"/>
            <a:ext cx="731520" cy="73152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6324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92" y="22860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6032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Work Order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578608" y="32461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guards, shift, dates to site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416552" y="2468880"/>
            <a:ext cx="128016" cy="54864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572000" y="132588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166360" y="1417320"/>
            <a:ext cx="731520" cy="73152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16636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9512" y="2286000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66344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Notified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681728" y="32461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sees duty in mobile portal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519672" y="2468880"/>
            <a:ext cx="128016" cy="54864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675120" y="1325880"/>
            <a:ext cx="1920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269480" y="1417320"/>
            <a:ext cx="731520" cy="73152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26948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2" y="2286000"/>
            <a:ext cx="548640" cy="5486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76656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Logged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6784848" y="324612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GPS-verified check-in at site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365760" y="3749040"/>
            <a:ext cx="8412480" cy="1005840"/>
          </a:xfrm>
          <a:prstGeom prst="rect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48640" y="3867912"/>
            <a:ext cx="109728" cy="109728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49808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grouped by site for easy management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754880" y="3867912"/>
            <a:ext cx="109728" cy="109728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956048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Officers have district-scoped work order access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48640" y="4251960"/>
            <a:ext cx="109728" cy="109728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749808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guard list exportable per site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4754880" y="4251960"/>
            <a:ext cx="109728" cy="109728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4956048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Geocoded duty sites with geofence enforcement</a:t>
            </a:r>
            <a:endParaRPr lang="en-US" sz="1000" dirty="0"/>
          </a:p>
        </p:txBody>
      </p:sp>
      <p:sp>
        <p:nvSpPr>
          <p:cNvPr id="42" name="Shape 3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deployment lifecycle from site creation to attendance verification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PERFORMANCE DEVELOPMENT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8229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Guard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Pipeline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65760" y="1691640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773936"/>
            <a:ext cx="365760" cy="36576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819656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0976" y="1746504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Training Modules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50976" y="195681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modules with content and objectives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65760" y="2313432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2395728"/>
            <a:ext cx="365760" cy="36576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244144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50976" y="2368296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Assignments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950976" y="2578608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assigned to guards or groups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365760" y="2935224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57200" y="3017520"/>
            <a:ext cx="365760" cy="36576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" y="306324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50976" y="2990088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Completion Tracking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950976" y="320040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tracked per guard, per module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365760" y="3557016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" y="3639312"/>
            <a:ext cx="365760" cy="36576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" y="3685032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50976" y="361188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Evaluations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950976" y="382219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evaluations scored and recorded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65760" y="4178808"/>
            <a:ext cx="4114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7200" y="4261104"/>
            <a:ext cx="365760" cy="36576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4306824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50976" y="4233672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Leaderboard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950976" y="444398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performers ranked company-wide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4892040" y="822960"/>
            <a:ext cx="3931920" cy="384048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4892040" y="822960"/>
            <a:ext cx="3931920" cy="54864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5074920" y="960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34" name="Shape 26"/>
          <p:cNvSpPr/>
          <p:nvPr/>
        </p:nvSpPr>
        <p:spPr>
          <a:xfrm>
            <a:off x="5029200" y="1417320"/>
            <a:ext cx="3657600" cy="384048"/>
          </a:xfrm>
          <a:prstGeom prst="rect">
            <a:avLst/>
          </a:prstGeom>
          <a:solidFill>
            <a:srgbClr val="013A66">
              <a:alpha val="80000"/>
            </a:srgbClr>
          </a:solidFill>
          <a:ln w="12700">
            <a:solidFill>
              <a:srgbClr val="013A66">
                <a:alpha val="60000"/>
              </a:srgbClr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120640" y="1554480"/>
            <a:ext cx="109728" cy="109728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5321808" y="14813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Standardises security training across all sites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5029200" y="1883664"/>
            <a:ext cx="3657600" cy="384048"/>
          </a:xfrm>
          <a:prstGeom prst="rect">
            <a:avLst/>
          </a:prstGeom>
          <a:solidFill>
            <a:srgbClr val="013A66">
              <a:alpha val="80000"/>
            </a:srgbClr>
          </a:solidFill>
          <a:ln w="12700">
            <a:solidFill>
              <a:srgbClr val="013A66">
                <a:alpha val="60000"/>
              </a:srgbClr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5120640" y="2020824"/>
            <a:ext cx="109728" cy="109728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321808" y="19476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guards are updated on compliance and SOPs</a:t>
            </a:r>
            <a:endParaRPr lang="en-US" sz="950" dirty="0"/>
          </a:p>
        </p:txBody>
      </p:sp>
      <p:sp>
        <p:nvSpPr>
          <p:cNvPr id="40" name="Shape 32"/>
          <p:cNvSpPr/>
          <p:nvPr/>
        </p:nvSpPr>
        <p:spPr>
          <a:xfrm>
            <a:off x="5029200" y="2350008"/>
            <a:ext cx="3657600" cy="384048"/>
          </a:xfrm>
          <a:prstGeom prst="rect">
            <a:avLst/>
          </a:prstGeom>
          <a:solidFill>
            <a:srgbClr val="013A66">
              <a:alpha val="80000"/>
            </a:srgbClr>
          </a:solidFill>
          <a:ln w="12700">
            <a:solidFill>
              <a:srgbClr val="013A66">
                <a:alpha val="60000"/>
              </a:srgbClr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5120640" y="2487168"/>
            <a:ext cx="109728" cy="109728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5321808" y="24140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data helps identify promotion candidates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5029200" y="2816352"/>
            <a:ext cx="3657600" cy="384048"/>
          </a:xfrm>
          <a:prstGeom prst="rect">
            <a:avLst/>
          </a:prstGeom>
          <a:solidFill>
            <a:srgbClr val="013A66">
              <a:alpha val="80000"/>
            </a:srgbClr>
          </a:solidFill>
          <a:ln w="12700">
            <a:solidFill>
              <a:srgbClr val="013A66">
                <a:alpha val="6000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5120640" y="2953512"/>
            <a:ext cx="109728" cy="109728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5321808" y="2880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 creates healthy competition and motivation</a:t>
            </a:r>
            <a:endParaRPr lang="en-US" sz="950" dirty="0"/>
          </a:p>
        </p:txBody>
      </p:sp>
      <p:sp>
        <p:nvSpPr>
          <p:cNvPr id="46" name="Shape 38"/>
          <p:cNvSpPr/>
          <p:nvPr/>
        </p:nvSpPr>
        <p:spPr>
          <a:xfrm>
            <a:off x="5029200" y="3282696"/>
            <a:ext cx="3657600" cy="384048"/>
          </a:xfrm>
          <a:prstGeom prst="rect">
            <a:avLst/>
          </a:prstGeom>
          <a:solidFill>
            <a:srgbClr val="013A66">
              <a:alpha val="80000"/>
            </a:srgbClr>
          </a:solidFill>
          <a:ln w="12700">
            <a:solidFill>
              <a:srgbClr val="013A66">
                <a:alpha val="60000"/>
              </a:srgbClr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5120640" y="3419856"/>
            <a:ext cx="109728" cy="109728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5321808" y="33467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reports give management full oversight</a:t>
            </a:r>
            <a:endParaRPr lang="en-US" sz="950" dirty="0"/>
          </a:p>
        </p:txBody>
      </p:sp>
      <p:sp>
        <p:nvSpPr>
          <p:cNvPr id="49" name="Shape 41"/>
          <p:cNvSpPr/>
          <p:nvPr/>
        </p:nvSpPr>
        <p:spPr>
          <a:xfrm>
            <a:off x="5029200" y="3749040"/>
            <a:ext cx="3657600" cy="384048"/>
          </a:xfrm>
          <a:prstGeom prst="rect">
            <a:avLst/>
          </a:prstGeom>
          <a:solidFill>
            <a:srgbClr val="013A66">
              <a:alpha val="80000"/>
            </a:srgbClr>
          </a:solidFill>
          <a:ln w="12700">
            <a:solidFill>
              <a:srgbClr val="013A66">
                <a:alpha val="60000"/>
              </a:srgbClr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5120640" y="3886200"/>
            <a:ext cx="109728" cy="109728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5321808" y="3813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access training on mobile — anytime, anywhere</a:t>
            </a:r>
            <a:endParaRPr lang="en-US" sz="950" dirty="0"/>
          </a:p>
        </p:txBody>
      </p:sp>
      <p:sp>
        <p:nvSpPr>
          <p:cNvPr id="52" name="Shape 4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completions and evaluations visible to both guards and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MANAGEMENT ENGINE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8046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Compliant Payroll for Security Industry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" y="1298448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298448"/>
            <a:ext cx="2651760" cy="47548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62456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Configuration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938528"/>
            <a:ext cx="91440" cy="91440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18928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salary &amp; CTC setup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57200" y="2331720"/>
            <a:ext cx="91440" cy="91440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22860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components (HRA, DA…)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57200" y="2724912"/>
            <a:ext cx="91440" cy="91440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26791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 components (PF, ESI…)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57200" y="3118104"/>
            <a:ext cx="91440" cy="91440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30723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contributions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57200" y="3511296"/>
            <a:ext cx="91440" cy="91440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" y="34655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slab calculations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57200" y="3904488"/>
            <a:ext cx="91440" cy="91440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0080" y="38587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projected workings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57200" y="4297680"/>
            <a:ext cx="91440" cy="91440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40080" y="4251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Per-client wage profiles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246120" y="1298448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246120" y="1298448"/>
            <a:ext cx="2651760" cy="475488"/>
          </a:xfrm>
          <a:prstGeom prst="rect">
            <a:avLst/>
          </a:prstGeom>
          <a:solidFill>
            <a:srgbClr val="013A66"/>
          </a:solidFill>
          <a:ln w="12700">
            <a:solidFill>
              <a:srgbClr val="013A66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362456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749040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Processing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3364992" y="1938528"/>
            <a:ext cx="91440" cy="91440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547872" y="18928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payroll cycle creation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3364992" y="2331720"/>
            <a:ext cx="91440" cy="91440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547872" y="22860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Attendance-linked calculations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3364992" y="2724912"/>
            <a:ext cx="91440" cy="91440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547872" y="26791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LOP (Loss of Pay) auto-deduction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3364992" y="3118104"/>
            <a:ext cx="91440" cy="91440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547872" y="30723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/ Net pay computation</a:t>
            </a:r>
            <a:endParaRPr lang="en-US" sz="950" dirty="0"/>
          </a:p>
        </p:txBody>
      </p:sp>
      <p:sp>
        <p:nvSpPr>
          <p:cNvPr id="36" name="Shape 31"/>
          <p:cNvSpPr/>
          <p:nvPr/>
        </p:nvSpPr>
        <p:spPr>
          <a:xfrm>
            <a:off x="3364992" y="3511296"/>
            <a:ext cx="91440" cy="91440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547872" y="34655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Provident Fund &amp; ESI compliance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3364992" y="3904488"/>
            <a:ext cx="91440" cy="91440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547872" y="38587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Tax (Kerala)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3364992" y="4297680"/>
            <a:ext cx="91440" cy="91440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3547872" y="4251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payslip generation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6172200" y="1298448"/>
            <a:ext cx="26517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6172200" y="1298448"/>
            <a:ext cx="2651760" cy="475488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62456"/>
            <a:ext cx="329184" cy="329184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6675120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Payslip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6291072" y="1938528"/>
            <a:ext cx="91440" cy="9144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473952" y="18928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payslip per guard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6291072" y="2331720"/>
            <a:ext cx="91440" cy="9144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473952" y="22860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earnings breakdown</a:t>
            </a:r>
            <a:endParaRPr lang="en-US" sz="950" dirty="0"/>
          </a:p>
        </p:txBody>
      </p:sp>
      <p:sp>
        <p:nvSpPr>
          <p:cNvPr id="50" name="Shape 44"/>
          <p:cNvSpPr/>
          <p:nvPr/>
        </p:nvSpPr>
        <p:spPr>
          <a:xfrm>
            <a:off x="6291072" y="2724912"/>
            <a:ext cx="91440" cy="9144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473952" y="26791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Deductions itemised clearly</a:t>
            </a:r>
            <a:endParaRPr lang="en-US" sz="950" dirty="0"/>
          </a:p>
        </p:txBody>
      </p:sp>
      <p:sp>
        <p:nvSpPr>
          <p:cNvPr id="52" name="Shape 46"/>
          <p:cNvSpPr/>
          <p:nvPr/>
        </p:nvSpPr>
        <p:spPr>
          <a:xfrm>
            <a:off x="6291072" y="3118104"/>
            <a:ext cx="91440" cy="9144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6473952" y="307238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take-home displayed</a:t>
            </a:r>
            <a:endParaRPr lang="en-US" sz="950" dirty="0"/>
          </a:p>
        </p:txBody>
      </p:sp>
      <p:sp>
        <p:nvSpPr>
          <p:cNvPr id="54" name="Shape 48"/>
          <p:cNvSpPr/>
          <p:nvPr/>
        </p:nvSpPr>
        <p:spPr>
          <a:xfrm>
            <a:off x="6291072" y="3511296"/>
            <a:ext cx="91440" cy="9144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6473952" y="34655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via Guard Portal</a:t>
            </a:r>
            <a:endParaRPr lang="en-US" sz="950" dirty="0"/>
          </a:p>
        </p:txBody>
      </p:sp>
      <p:sp>
        <p:nvSpPr>
          <p:cNvPr id="56" name="Shape 50"/>
          <p:cNvSpPr/>
          <p:nvPr/>
        </p:nvSpPr>
        <p:spPr>
          <a:xfrm>
            <a:off x="6291072" y="3904488"/>
            <a:ext cx="91440" cy="9144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6473952" y="38587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printing required</a:t>
            </a:r>
            <a:endParaRPr lang="en-US" sz="950" dirty="0"/>
          </a:p>
        </p:txBody>
      </p:sp>
      <p:sp>
        <p:nvSpPr>
          <p:cNvPr id="58" name="Shape 52"/>
          <p:cNvSpPr/>
          <p:nvPr/>
        </p:nvSpPr>
        <p:spPr>
          <a:xfrm>
            <a:off x="6291072" y="4297680"/>
            <a:ext cx="91440" cy="91440"/>
          </a:xfrm>
          <a:prstGeom prst="ellipse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6473952" y="4251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slips always available</a:t>
            </a:r>
            <a:endParaRPr lang="en-US" sz="950" dirty="0"/>
          </a:p>
        </p:txBody>
      </p:sp>
      <p:sp>
        <p:nvSpPr>
          <p:cNvPr id="60" name="Shape 5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61" name="Text 55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compliance with PF, ESI, PT (Kerala) — every deduction calculated automatically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SITE MANAGEMENT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8046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Client Relationship &amp; Site Operations Hub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474720" y="1298448"/>
            <a:ext cx="2194560" cy="566928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474720" y="129844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148840" y="1865376"/>
            <a:ext cx="2423160" cy="45720"/>
          </a:xfrm>
          <a:prstGeom prst="rect">
            <a:avLst/>
          </a:prstGeom>
          <a:solidFill>
            <a:srgbClr val="D0DEEE"/>
          </a:solidFill>
          <a:ln w="12700">
            <a:solidFill>
              <a:srgbClr val="D0DE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865376"/>
            <a:ext cx="2423160" cy="45720"/>
          </a:xfrm>
          <a:prstGeom prst="rect">
            <a:avLst/>
          </a:prstGeom>
          <a:solidFill>
            <a:srgbClr val="D0DEEE"/>
          </a:solidFill>
          <a:ln w="12700">
            <a:solidFill>
              <a:srgbClr val="D0DE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865376"/>
            <a:ext cx="45720" cy="274320"/>
          </a:xfrm>
          <a:prstGeom prst="rect">
            <a:avLst/>
          </a:prstGeom>
          <a:solidFill>
            <a:srgbClr val="D0DEEE"/>
          </a:solidFill>
          <a:ln w="12700">
            <a:solidFill>
              <a:srgbClr val="D0DE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1911096"/>
            <a:ext cx="2194560" cy="530352"/>
          </a:xfrm>
          <a:prstGeom prst="rect">
            <a:avLst/>
          </a:prstGeom>
          <a:solidFill>
            <a:srgbClr val="013A66"/>
          </a:solidFill>
          <a:ln w="12700">
            <a:solidFill>
              <a:srgbClr val="013A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" y="191109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Offices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583680" y="1911096"/>
            <a:ext cx="2194560" cy="530352"/>
          </a:xfrm>
          <a:prstGeom prst="rect">
            <a:avLst/>
          </a:prstGeom>
          <a:solidFill>
            <a:srgbClr val="013A66"/>
          </a:solidFill>
          <a:ln w="12700">
            <a:solidFill>
              <a:srgbClr val="013A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83680" y="191109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Users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474720" y="2139696"/>
            <a:ext cx="2194560" cy="530352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474720" y="213969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Sites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0040" y="2852928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9768" y="3026664"/>
            <a:ext cx="365760" cy="365760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072384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14400" y="29443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Hierarchy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914400" y="32004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→ Office → Site. Manage multiple locations per client with ease.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800600" y="2852928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4910328" y="3026664"/>
            <a:ext cx="365760" cy="365760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3072384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94960" y="29443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Geocoded Sites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5394960" y="32004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duty site mapped with GPS coordinates and geofence radius.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320040" y="3675888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29768" y="3849624"/>
            <a:ext cx="365760" cy="365760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895344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14400" y="37673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 Users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914400" y="40233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login access for clients to view their guards' attendance live.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800600" y="3675888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910328" y="3849624"/>
            <a:ext cx="365760" cy="365760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3895344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394960" y="37673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 Per Site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5394960" y="40233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and manage deployment work orders directly from the site.</a:t>
            </a:r>
            <a:endParaRPr lang="en-US" sz="950" dirty="0"/>
          </a:p>
        </p:txBody>
      </p:sp>
      <p:sp>
        <p:nvSpPr>
          <p:cNvPr id="37" name="Shape 3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geocoding, bulk import, and QR management all available from Settings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OPERATIONS MANAGEMENT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8412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17099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5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District-scoped supervisors with dedicated tools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3D5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on-ground operations.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2267712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2267712"/>
            <a:ext cx="54864" cy="585216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" y="2377440"/>
            <a:ext cx="365760" cy="365760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4231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78408" y="23408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District-Scoped Access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78408" y="25694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officers see only their assigned districts — secure separation of data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65760" y="2944368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2944368"/>
            <a:ext cx="54864" cy="585216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3776" y="3054096"/>
            <a:ext cx="365760" cy="365760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09981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8408" y="30175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View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978408" y="32461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duties and guard assignments for their area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65760" y="3621024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65760" y="3621024"/>
            <a:ext cx="54864" cy="585216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93776" y="3730752"/>
            <a:ext cx="365760" cy="365760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77647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78408" y="36941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Reports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78408" y="39227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client site visits with notes and observations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65760" y="4297680"/>
            <a:ext cx="41148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65760" y="4297680"/>
            <a:ext cx="54864" cy="585216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93776" y="4407408"/>
            <a:ext cx="365760" cy="365760"/>
          </a:xfrm>
          <a:prstGeom prst="ellipse">
            <a:avLst/>
          </a:prstGeom>
          <a:solidFill>
            <a:srgbClr val="EEF4FB"/>
          </a:solidFill>
          <a:ln w="12700">
            <a:solidFill>
              <a:srgbClr val="D0DEEE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445312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8408" y="43708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Reports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978408" y="459943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training completion rates in their district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4892040" y="841248"/>
            <a:ext cx="3931920" cy="384048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892040" y="841248"/>
            <a:ext cx="3931920" cy="54864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074920" y="9875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600" dirty="0"/>
          </a:p>
        </p:txBody>
      </p:sp>
      <p:sp>
        <p:nvSpPr>
          <p:cNvPr id="34" name="Shape 27"/>
          <p:cNvSpPr/>
          <p:nvPr/>
        </p:nvSpPr>
        <p:spPr>
          <a:xfrm>
            <a:off x="5029200" y="1463040"/>
            <a:ext cx="3657600" cy="475488"/>
          </a:xfrm>
          <a:prstGeom prst="rect">
            <a:avLst/>
          </a:prstGeom>
          <a:solidFill>
            <a:srgbClr val="013A66">
              <a:alpha val="80000"/>
            </a:srgbClr>
          </a:solidFill>
          <a:ln w="12700">
            <a:solidFill>
              <a:srgbClr val="013A66">
                <a:alpha val="50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5120640" y="1563624"/>
            <a:ext cx="274320" cy="27432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591056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504688" y="1508760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5504688" y="1709928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role sees only what they need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5029200" y="2029968"/>
            <a:ext cx="3657600" cy="475488"/>
          </a:xfrm>
          <a:prstGeom prst="rect">
            <a:avLst/>
          </a:prstGeom>
          <a:solidFill>
            <a:srgbClr val="013A66">
              <a:alpha val="80000"/>
            </a:srgbClr>
          </a:solidFill>
          <a:ln w="12700">
            <a:solidFill>
              <a:srgbClr val="013A66">
                <a:alpha val="50000"/>
              </a:srgbClr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5120640" y="2130552"/>
            <a:ext cx="274320" cy="27432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2157984"/>
            <a:ext cx="182880" cy="18288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504688" y="2075688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050" dirty="0"/>
          </a:p>
        </p:txBody>
      </p:sp>
      <p:sp>
        <p:nvSpPr>
          <p:cNvPr id="43" name="Text 34"/>
          <p:cNvSpPr/>
          <p:nvPr/>
        </p:nvSpPr>
        <p:spPr>
          <a:xfrm>
            <a:off x="5504688" y="227685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sign-in for all user types</a:t>
            </a:r>
            <a:endParaRPr lang="en-US" sz="850" dirty="0"/>
          </a:p>
        </p:txBody>
      </p:sp>
      <p:sp>
        <p:nvSpPr>
          <p:cNvPr id="44" name="Shape 35"/>
          <p:cNvSpPr/>
          <p:nvPr/>
        </p:nvSpPr>
        <p:spPr>
          <a:xfrm>
            <a:off x="5029200" y="2596896"/>
            <a:ext cx="3657600" cy="475488"/>
          </a:xfrm>
          <a:prstGeom prst="rect">
            <a:avLst/>
          </a:prstGeom>
          <a:solidFill>
            <a:srgbClr val="013A66">
              <a:alpha val="80000"/>
            </a:srgbClr>
          </a:solidFill>
          <a:ln w="12700">
            <a:solidFill>
              <a:srgbClr val="013A66">
                <a:alpha val="5000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5120640" y="2697480"/>
            <a:ext cx="274320" cy="27432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2724912"/>
            <a:ext cx="182880" cy="18288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5504688" y="2642616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 Enforcement</a:t>
            </a:r>
            <a:endParaRPr lang="en-US" sz="1050" dirty="0"/>
          </a:p>
        </p:txBody>
      </p:sp>
      <p:sp>
        <p:nvSpPr>
          <p:cNvPr id="48" name="Text 38"/>
          <p:cNvSpPr/>
          <p:nvPr/>
        </p:nvSpPr>
        <p:spPr>
          <a:xfrm>
            <a:off x="5504688" y="2843784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only from approved locations</a:t>
            </a:r>
            <a:endParaRPr lang="en-US" sz="850" dirty="0"/>
          </a:p>
        </p:txBody>
      </p:sp>
      <p:sp>
        <p:nvSpPr>
          <p:cNvPr id="49" name="Shape 39"/>
          <p:cNvSpPr/>
          <p:nvPr/>
        </p:nvSpPr>
        <p:spPr>
          <a:xfrm>
            <a:off x="5029200" y="3163824"/>
            <a:ext cx="3657600" cy="475488"/>
          </a:xfrm>
          <a:prstGeom prst="rect">
            <a:avLst/>
          </a:prstGeom>
          <a:solidFill>
            <a:srgbClr val="013A66">
              <a:alpha val="80000"/>
            </a:srgbClr>
          </a:solidFill>
          <a:ln w="12700">
            <a:solidFill>
              <a:srgbClr val="013A66">
                <a:alpha val="50000"/>
              </a:srgbClr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5120640" y="3264408"/>
            <a:ext cx="274320" cy="27432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6360" y="3291840"/>
            <a:ext cx="182880" cy="18288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5504688" y="3209544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Verification</a:t>
            </a:r>
            <a:endParaRPr lang="en-US" sz="1050" dirty="0"/>
          </a:p>
        </p:txBody>
      </p:sp>
      <p:sp>
        <p:nvSpPr>
          <p:cNvPr id="53" name="Text 42"/>
          <p:cNvSpPr/>
          <p:nvPr/>
        </p:nvSpPr>
        <p:spPr>
          <a:xfrm>
            <a:off x="5504688" y="341071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identity confirmation at check-in</a:t>
            </a:r>
            <a:endParaRPr lang="en-US" sz="850" dirty="0"/>
          </a:p>
        </p:txBody>
      </p:sp>
      <p:sp>
        <p:nvSpPr>
          <p:cNvPr id="54" name="Shape 43"/>
          <p:cNvSpPr/>
          <p:nvPr/>
        </p:nvSpPr>
        <p:spPr>
          <a:xfrm>
            <a:off x="5029200" y="3730752"/>
            <a:ext cx="3657600" cy="475488"/>
          </a:xfrm>
          <a:prstGeom prst="rect">
            <a:avLst/>
          </a:prstGeom>
          <a:solidFill>
            <a:srgbClr val="013A66">
              <a:alpha val="80000"/>
            </a:srgbClr>
          </a:solidFill>
          <a:ln w="12700">
            <a:solidFill>
              <a:srgbClr val="013A66">
                <a:alpha val="50000"/>
              </a:srgbClr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5120640" y="3831336"/>
            <a:ext cx="274320" cy="27432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66360" y="3858768"/>
            <a:ext cx="182880" cy="18288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5504688" y="3776472"/>
            <a:ext cx="3063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050" dirty="0"/>
          </a:p>
        </p:txBody>
      </p:sp>
      <p:sp>
        <p:nvSpPr>
          <p:cNvPr id="58" name="Text 46"/>
          <p:cNvSpPr/>
          <p:nvPr/>
        </p:nvSpPr>
        <p:spPr>
          <a:xfrm>
            <a:off x="5504688" y="3977640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FCM-powered alerts for admins and guards</a:t>
            </a:r>
            <a:endParaRPr lang="en-US" sz="850" dirty="0"/>
          </a:p>
        </p:txBody>
      </p:sp>
      <p:sp>
        <p:nvSpPr>
          <p:cNvPr id="59" name="Shape 4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60" name="Text 48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field data flows directly to admin dashboard for instant visibility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645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MULTI-REGION CAPABILITY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84124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Modern,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Technology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365760" y="170992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1709928"/>
            <a:ext cx="54864" cy="420624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17465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0352" y="19110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on iOS &amp; Android. Works offline. No app store.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221284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212848"/>
            <a:ext cx="54864" cy="420624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" y="224942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App Router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30352" y="24140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components, streaming, and edge-ready architecture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5760" y="271576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715768"/>
            <a:ext cx="54864" cy="420624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" y="27523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0352" y="291693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database with offline cache and multi-tab sync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65760" y="321868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3218688"/>
            <a:ext cx="54864" cy="420624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" y="32552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30352" y="34198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authentication with custom claims per role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65760" y="372160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65760" y="3721608"/>
            <a:ext cx="54864" cy="420624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0352" y="37581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Messaging (FCM)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30352" y="392277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to guards and admins in real-time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65760" y="4224528"/>
            <a:ext cx="41148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65760" y="4224528"/>
            <a:ext cx="54864" cy="420624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0352" y="42611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1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Deployment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30352" y="442569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deploys, global CDN, automatic HTTPS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892040" y="841248"/>
            <a:ext cx="3931920" cy="3840480"/>
          </a:xfrm>
          <a:prstGeom prst="rect">
            <a:avLst/>
          </a:prstGeom>
          <a:solidFill>
            <a:srgbClr val="014C85"/>
          </a:solidFill>
          <a:ln w="12700">
            <a:solidFill>
              <a:srgbClr val="014C8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92040" y="841248"/>
            <a:ext cx="3931920" cy="54864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074920" y="960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Architecture</a:t>
            </a:r>
            <a:endParaRPr lang="en-US" sz="1500" dirty="0"/>
          </a:p>
        </p:txBody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6492240" y="1353312"/>
            <a:ext cx="1097280" cy="109728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5074920" y="2697480"/>
            <a:ext cx="128016" cy="128016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303520" y="26426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Super-Admin manages all regions centrally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5074920" y="3044952"/>
            <a:ext cx="128016" cy="128016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5303520" y="29900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region has independent Firebase project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5074920" y="3392424"/>
            <a:ext cx="128016" cy="128016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303520" y="33375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overview dashboard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5074920" y="3739896"/>
            <a:ext cx="128016" cy="128016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303520" y="3685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Region-specific payroll &amp; compliance rules</a:t>
            </a:r>
            <a:endParaRPr lang="en-US" sz="950" dirty="0"/>
          </a:p>
        </p:txBody>
      </p:sp>
      <p:sp>
        <p:nvSpPr>
          <p:cNvPr id="42" name="Shape 38"/>
          <p:cNvSpPr/>
          <p:nvPr/>
        </p:nvSpPr>
        <p:spPr>
          <a:xfrm>
            <a:off x="5074920" y="4087368"/>
            <a:ext cx="128016" cy="128016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303520" y="40325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guard auth domain per region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5074920" y="4434840"/>
            <a:ext cx="128016" cy="128016"/>
          </a:xfrm>
          <a:prstGeom prst="ellipse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303520" y="43799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cross-region credential storage</a:t>
            </a:r>
            <a:endParaRPr lang="en-US" sz="950" dirty="0"/>
          </a:p>
        </p:txBody>
      </p:sp>
      <p:sp>
        <p:nvSpPr>
          <p:cNvPr id="46" name="Shape 4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0" y="487375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from a single region to nationwide operations without architectural changes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1E3A"/>
          </a:solidFill>
          <a:ln w="12700">
            <a:solidFill>
              <a:srgbClr val="011E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2984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BD9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PACKAGE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673352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a security company needs.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platform.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5212080" y="640080"/>
            <a:ext cx="868680" cy="1097280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8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17820" y="731520"/>
            <a:ext cx="457200" cy="45720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684" y="7772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57800" y="12801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HRM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172200" y="640080"/>
            <a:ext cx="868680" cy="1097280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8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77940" y="731520"/>
            <a:ext cx="457200" cy="45720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2804" y="77724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12801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7132320" y="640080"/>
            <a:ext cx="868680" cy="1097280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80000"/>
              </a:srgbClr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338060" y="731520"/>
            <a:ext cx="457200" cy="45720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924" y="77724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178040" y="12801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8092440" y="640080"/>
            <a:ext cx="868680" cy="1097280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80000"/>
              </a:srgbClr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8298180" y="731520"/>
            <a:ext cx="457200" cy="45720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044" y="777240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138160" y="12801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5212080" y="1874520"/>
            <a:ext cx="868680" cy="1097280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80000"/>
              </a:srgbClr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5417820" y="1965960"/>
            <a:ext cx="457200" cy="45720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2684" y="2011680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57800" y="2514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6172200" y="1874520"/>
            <a:ext cx="868680" cy="1097280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8000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377940" y="1965960"/>
            <a:ext cx="457200" cy="45720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2804" y="2011680"/>
            <a:ext cx="347472" cy="3474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217920" y="2514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App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7132320" y="1874520"/>
            <a:ext cx="868680" cy="1097280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80000"/>
              </a:srgbClr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7338060" y="1965960"/>
            <a:ext cx="457200" cy="45720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2924" y="2011680"/>
            <a:ext cx="347472" cy="34747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178040" y="2514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</a:t>
            </a:r>
            <a:endParaRPr lang="en-US" sz="900" dirty="0"/>
          </a:p>
        </p:txBody>
      </p:sp>
      <p:sp>
        <p:nvSpPr>
          <p:cNvPr id="35" name="Shape 25"/>
          <p:cNvSpPr/>
          <p:nvPr/>
        </p:nvSpPr>
        <p:spPr>
          <a:xfrm>
            <a:off x="8092440" y="1874520"/>
            <a:ext cx="868680" cy="1097280"/>
          </a:xfrm>
          <a:prstGeom prst="rect">
            <a:avLst/>
          </a:prstGeom>
          <a:solidFill>
            <a:srgbClr val="013A66">
              <a:alpha val="70000"/>
            </a:srgbClr>
          </a:solidFill>
          <a:ln w="12700">
            <a:solidFill>
              <a:srgbClr val="013A66">
                <a:alpha val="80000"/>
              </a:srgbClr>
            </a:solidFill>
            <a:prstDash val="solid"/>
          </a:ln>
        </p:spPr>
      </p:sp>
      <p:sp>
        <p:nvSpPr>
          <p:cNvPr id="36" name="Shape 26"/>
          <p:cNvSpPr/>
          <p:nvPr/>
        </p:nvSpPr>
        <p:spPr>
          <a:xfrm>
            <a:off x="8298180" y="1965960"/>
            <a:ext cx="457200" cy="457200"/>
          </a:xfrm>
          <a:prstGeom prst="ellipse">
            <a:avLst/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3044" y="2011680"/>
            <a:ext cx="347472" cy="34747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8138160" y="2514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39" name="Shape 28"/>
          <p:cNvSpPr/>
          <p:nvPr/>
        </p:nvSpPr>
        <p:spPr>
          <a:xfrm>
            <a:off x="502920" y="2852928"/>
            <a:ext cx="749808" cy="274320"/>
          </a:xfrm>
          <a:prstGeom prst="roundRect">
            <a:avLst>
              <a:gd name="adj" fmla="val 26667"/>
            </a:avLst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502920" y="28529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750" dirty="0"/>
          </a:p>
        </p:txBody>
      </p:sp>
      <p:sp>
        <p:nvSpPr>
          <p:cNvPr id="41" name="Shape 30"/>
          <p:cNvSpPr/>
          <p:nvPr/>
        </p:nvSpPr>
        <p:spPr>
          <a:xfrm>
            <a:off x="1298448" y="2852928"/>
            <a:ext cx="749808" cy="274320"/>
          </a:xfrm>
          <a:prstGeom prst="roundRect">
            <a:avLst>
              <a:gd name="adj" fmla="val 26667"/>
            </a:avLst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1298448" y="28529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</a:t>
            </a:r>
            <a:endParaRPr lang="en-US" sz="750" dirty="0"/>
          </a:p>
        </p:txBody>
      </p:sp>
      <p:sp>
        <p:nvSpPr>
          <p:cNvPr id="43" name="Shape 32"/>
          <p:cNvSpPr/>
          <p:nvPr/>
        </p:nvSpPr>
        <p:spPr>
          <a:xfrm>
            <a:off x="2093976" y="2852928"/>
            <a:ext cx="749808" cy="274320"/>
          </a:xfrm>
          <a:prstGeom prst="roundRect">
            <a:avLst>
              <a:gd name="adj" fmla="val 26667"/>
            </a:avLst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4" name="Text 33"/>
          <p:cNvSpPr/>
          <p:nvPr/>
        </p:nvSpPr>
        <p:spPr>
          <a:xfrm>
            <a:off x="2093976" y="28529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750" dirty="0"/>
          </a:p>
        </p:txBody>
      </p:sp>
      <p:sp>
        <p:nvSpPr>
          <p:cNvPr id="45" name="Shape 34"/>
          <p:cNvSpPr/>
          <p:nvPr/>
        </p:nvSpPr>
        <p:spPr>
          <a:xfrm>
            <a:off x="2889504" y="2852928"/>
            <a:ext cx="749808" cy="274320"/>
          </a:xfrm>
          <a:prstGeom prst="roundRect">
            <a:avLst>
              <a:gd name="adj" fmla="val 26667"/>
            </a:avLst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2889504" y="28529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750" dirty="0"/>
          </a:p>
        </p:txBody>
      </p:sp>
      <p:sp>
        <p:nvSpPr>
          <p:cNvPr id="47" name="Shape 36"/>
          <p:cNvSpPr/>
          <p:nvPr/>
        </p:nvSpPr>
        <p:spPr>
          <a:xfrm>
            <a:off x="3685032" y="2852928"/>
            <a:ext cx="749808" cy="274320"/>
          </a:xfrm>
          <a:prstGeom prst="roundRect">
            <a:avLst>
              <a:gd name="adj" fmla="val 26667"/>
            </a:avLst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3685032" y="28529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750" dirty="0"/>
          </a:p>
        </p:txBody>
      </p:sp>
      <p:sp>
        <p:nvSpPr>
          <p:cNvPr id="49" name="Shape 38"/>
          <p:cNvSpPr/>
          <p:nvPr/>
        </p:nvSpPr>
        <p:spPr>
          <a:xfrm>
            <a:off x="4480560" y="2852928"/>
            <a:ext cx="749808" cy="274320"/>
          </a:xfrm>
          <a:prstGeom prst="roundRect">
            <a:avLst>
              <a:gd name="adj" fmla="val 26667"/>
            </a:avLst>
          </a:prstGeom>
          <a:solidFill>
            <a:srgbClr val="BD9C55">
              <a:alpha val="80000"/>
            </a:srgbClr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4480560" y="285292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50" dirty="0"/>
          </a:p>
        </p:txBody>
      </p:sp>
      <p:sp>
        <p:nvSpPr>
          <p:cNvPr id="51" name="Text 40"/>
          <p:cNvSpPr/>
          <p:nvPr/>
        </p:nvSpPr>
        <p:spPr>
          <a:xfrm>
            <a:off x="502920" y="32735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 Workforce — Digitising Security Operations Across Kerala and Beyond</a:t>
            </a:r>
            <a:endParaRPr lang="en-US" sz="1100" dirty="0"/>
          </a:p>
        </p:txBody>
      </p:sp>
      <p:sp>
        <p:nvSpPr>
          <p:cNvPr id="52" name="Text 41"/>
          <p:cNvSpPr/>
          <p:nvPr/>
        </p:nvSpPr>
        <p:spPr>
          <a:xfrm>
            <a:off x="502920" y="370332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pPr indent="0" marL="0">
              <a:buNone/>
            </a:pPr>
            <a:r>
              <a:rPr lang="en-US" sz="1000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000" b="1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 PWA</a:t>
            </a:r>
            <a:pPr indent="0" marL="0">
              <a:buNone/>
            </a:pPr>
            <a:r>
              <a:rPr lang="en-US" sz="1000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000" b="1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Firebase</a:t>
            </a:r>
            <a:pPr indent="0" marL="0">
              <a:buNone/>
            </a:pPr>
            <a:r>
              <a:rPr lang="en-US" sz="1000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000" b="1" dirty="0">
                <a:solidFill>
                  <a:srgbClr val="99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Hosted</a:t>
            </a:r>
            <a:endParaRPr lang="en-US" sz="1000" dirty="0"/>
          </a:p>
        </p:txBody>
      </p:sp>
      <p:sp>
        <p:nvSpPr>
          <p:cNvPr id="53" name="Shape 4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BD9C55"/>
          </a:solidFill>
          <a:ln w="12700">
            <a:solidFill>
              <a:srgbClr val="BD9C55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0" y="46817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ciss-workforce.vercel.app  ·  sanjay.deltah@gmail.com  ·  CISS Kerala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CISS Workforce — Complete Security Industry Platform</dc:title>
  <dc:subject>PptxGenJS Presentation</dc:subject>
  <dc:creator>CISS</dc:creator>
  <cp:lastModifiedBy>CISS</cp:lastModifiedBy>
  <cp:revision>1</cp:revision>
  <dcterms:created xsi:type="dcterms:W3CDTF">2026-04-17T05:21:14Z</dcterms:created>
  <dcterms:modified xsi:type="dcterms:W3CDTF">2026-04-17T05:21:14Z</dcterms:modified>
</cp:coreProperties>
</file>